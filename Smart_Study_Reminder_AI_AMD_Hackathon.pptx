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1371600"/>
            <a:ext cx="6400800" cy="6400800"/>
          </a:xfrm>
          <a:prstGeom prst="ellipse">
            <a:avLst/>
          </a:prstGeom>
          <a:noFill/>
          <a:ln w="25400">
            <a:solidFill>
              <a:srgbClr val="85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53333"/>
                </a:solidFill>
                <a:latin typeface="Georgia"/>
              </a:defRPr>
            </a:pPr>
            <a:r>
              <a:t>[ Smart Study Reminder AI ]</a:t>
            </a:r>
          </a:p>
          <a:p>
            <a:pPr algn="ctr">
              <a:spcBef>
                <a:spcPts val="1200"/>
              </a:spcBef>
              <a:defRPr sz="1600" i="1">
                <a:solidFill>
                  <a:srgbClr val="853333"/>
                </a:solidFill>
                <a:latin typeface="Arial"/>
              </a:defRPr>
            </a:pPr>
            <a:r>
              <a:t>From Static Notes to an Autonomous AI Study Operating System  ·  AMD AI PC Mini-Hackathon</a:t>
            </a:r>
          </a:p>
          <a:p>
            <a:pPr algn="ctr">
              <a:spcBef>
                <a:spcPts val="600"/>
              </a:spcBef>
              <a:defRPr sz="1600" i="1">
                <a:solidFill>
                  <a:srgbClr val="853333"/>
                </a:solidFill>
                <a:latin typeface="Arial"/>
              </a:defRPr>
            </a:pPr>
            <a:r>
              <a:t>Agent Forge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97680"/>
            <a:ext cx="100584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53333"/>
                </a:solidFill>
                <a:latin typeface="Arial"/>
              </a:defRPr>
            </a:pPr>
            <a:r>
              <a:t>Team Name:  SVCE Boys</a:t>
            </a:r>
          </a:p>
          <a:p>
            <a:pPr>
              <a:spcBef>
                <a:spcPts val="1000"/>
              </a:spcBef>
              <a:defRPr sz="1400" b="1">
                <a:solidFill>
                  <a:srgbClr val="853333"/>
                </a:solidFill>
                <a:latin typeface="Arial"/>
              </a:defRPr>
            </a:pPr>
            <a:r>
              <a:t>Team Members:  B Puneeth Reddy  ·  B Parandama  ·  K Abhishek</a:t>
            </a:r>
          </a:p>
          <a:p>
            <a:pPr>
              <a:spcBef>
                <a:spcPts val="1000"/>
              </a:spcBef>
              <a:defRPr sz="1400" b="1">
                <a:solidFill>
                  <a:srgbClr val="853333"/>
                </a:solidFill>
                <a:latin typeface="Arial"/>
              </a:defRPr>
            </a:pPr>
            <a:r>
              <a:t>Institution:  Sri Venkateswara College of Engineering</a:t>
            </a:r>
          </a:p>
          <a:p>
            <a:pPr>
              <a:spcBef>
                <a:spcPts val="1000"/>
              </a:spcBef>
              <a:defRPr sz="1400" b="1">
                <a:solidFill>
                  <a:srgbClr val="853333"/>
                </a:solidFill>
                <a:latin typeface="Arial"/>
              </a:defRPr>
            </a:pPr>
            <a:r>
              <a:t>Name of Mentor:  Pradeep Sajnani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48640"/>
            <a:ext cx="548640" cy="548640"/>
          </a:xfrm>
          <a:prstGeom prst="ellipse">
            <a:avLst/>
          </a:prstGeom>
          <a:solidFill>
            <a:srgbClr val="853333"/>
          </a:solidFill>
          <a:ln>
            <a:solidFill>
              <a:srgbClr val="85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502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D2323"/>
                </a:solidFill>
                <a:latin typeface="Georgia"/>
              </a:defRPr>
            </a:pPr>
            <a:r>
              <a:t>Your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35F5F"/>
                </a:solidFill>
                <a:latin typeface="Arial"/>
              </a:defRPr>
            </a:pPr>
            <a:r>
              <a:t>Agent Forge Final Demo  ·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76218" cy="3474720"/>
          </a:xfrm>
          <a:prstGeom prst="round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853333"/>
          </a:solidFill>
          <a:ln>
            <a:solidFill>
              <a:srgbClr val="85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02757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53333"/>
                </a:solidFill>
                <a:latin typeface="Arial"/>
              </a:defRPr>
            </a:pPr>
            <a:r>
              <a:t>Track 1</a:t>
            </a:r>
          </a:p>
          <a:p>
            <a:pPr>
              <a:spcBef>
                <a:spcPts val="800"/>
              </a:spcBef>
              <a:defRPr sz="1800" b="1">
                <a:solidFill>
                  <a:srgbClr val="2D2323"/>
                </a:solidFill>
                <a:latin typeface="Arial"/>
              </a:defRPr>
            </a:pPr>
            <a:r>
              <a:t>Build for Someone You Know</a:t>
            </a:r>
          </a:p>
          <a:p>
            <a:pPr>
              <a:spcBef>
                <a:spcPts val="1200"/>
              </a:spcBef>
              <a:defRPr sz="1300">
                <a:solidFill>
                  <a:srgbClr val="735F5F"/>
                </a:solidFill>
                <a:latin typeface="Arial"/>
              </a:defRPr>
            </a:pPr>
            <a:r>
              <a:t>Find a real person — a parent, a neighbour, a shopkeeper. Interview them. Build an AI solution made specifically for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7738" y="1645920"/>
            <a:ext cx="3576218" cy="3474720"/>
          </a:xfrm>
          <a:prstGeom prst="roundRect">
            <a:avLst/>
          </a:prstGeom>
          <a:solidFill>
            <a:srgbClr val="F2EAE0"/>
          </a:solidFill>
          <a:ln w="25400">
            <a:solidFill>
              <a:srgbClr val="85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853333"/>
          </a:solidFill>
          <a:ln>
            <a:solidFill>
              <a:srgbClr val="85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2058" y="2743200"/>
            <a:ext cx="302757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53333"/>
                </a:solidFill>
                <a:latin typeface="Arial"/>
              </a:defRPr>
            </a:pPr>
            <a:r>
              <a:t>Track 2</a:t>
            </a:r>
          </a:p>
          <a:p>
            <a:pPr>
              <a:spcBef>
                <a:spcPts val="800"/>
              </a:spcBef>
              <a:defRPr sz="1800" b="1">
                <a:solidFill>
                  <a:srgbClr val="2D2323"/>
                </a:solidFill>
                <a:latin typeface="Arial"/>
              </a:defRPr>
            </a:pPr>
            <a:r>
              <a:t>Build for Your Campus</a:t>
            </a:r>
          </a:p>
          <a:p>
            <a:pPr>
              <a:spcBef>
                <a:spcPts val="1200"/>
              </a:spcBef>
              <a:defRPr sz="1300">
                <a:solidFill>
                  <a:srgbClr val="735F5F"/>
                </a:solidFill>
                <a:latin typeface="Arial"/>
              </a:defRPr>
            </a:pPr>
            <a:r>
              <a:t>Identify a genuine need inside your college — students waste hours suffering from decision paralysis trying to figure out WHAT to study before exams.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6836" y="1645920"/>
            <a:ext cx="3576218" cy="3474720"/>
          </a:xfrm>
          <a:prstGeom prst="round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32596" y="2011680"/>
            <a:ext cx="548640" cy="548640"/>
          </a:xfrm>
          <a:prstGeom prst="ellipse">
            <a:avLst/>
          </a:prstGeom>
          <a:solidFill>
            <a:srgbClr val="853333"/>
          </a:solidFill>
          <a:ln>
            <a:solidFill>
              <a:srgbClr val="85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2743200"/>
            <a:ext cx="302757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53333"/>
                </a:solidFill>
                <a:latin typeface="Arial"/>
              </a:defRPr>
            </a:pPr>
            <a:r>
              <a:t>Track 3</a:t>
            </a:r>
          </a:p>
          <a:p>
            <a:pPr>
              <a:spcBef>
                <a:spcPts val="800"/>
              </a:spcBef>
              <a:defRPr sz="1800" b="1">
                <a:solidFill>
                  <a:srgbClr val="2D2323"/>
                </a:solidFill>
                <a:latin typeface="Arial"/>
              </a:defRPr>
            </a:pPr>
            <a:r>
              <a:t>Build for Your Community</a:t>
            </a:r>
          </a:p>
          <a:p>
            <a:pPr>
              <a:spcBef>
                <a:spcPts val="1200"/>
              </a:spcBef>
              <a:defRPr sz="1300">
                <a:solidFill>
                  <a:srgbClr val="735F5F"/>
                </a:solidFill>
                <a:latin typeface="Arial"/>
              </a:defRPr>
            </a:pPr>
            <a:r>
              <a:t>Go beyond campus — a local market, a clinic, a public service. Find the problem your community lives with every 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303520"/>
            <a:ext cx="11094415" cy="822960"/>
          </a:xfrm>
          <a:prstGeom prst="roundRect">
            <a:avLst/>
          </a:prstGeom>
          <a:solidFill>
            <a:srgbClr val="592727"/>
          </a:solidFill>
          <a:ln>
            <a:solidFill>
              <a:srgbClr val="59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Our team's track: Track 2 — Build for Your Campus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48640"/>
            <a:ext cx="548640" cy="548640"/>
          </a:xfrm>
          <a:prstGeom prst="ellipse">
            <a:avLst/>
          </a:prstGeom>
          <a:solidFill>
            <a:srgbClr val="853333"/>
          </a:solidFill>
          <a:ln>
            <a:solidFill>
              <a:srgbClr val="85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502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D2323"/>
                </a:solidFill>
                <a:latin typeface="Georgia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35F5F"/>
                </a:solidFill>
                <a:latin typeface="Arial"/>
              </a:defRPr>
            </a:pPr>
            <a:r>
              <a:t>Agent Forge Final Demo  ·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583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600" b="1">
                <a:solidFill>
                  <a:srgbClr val="2D2323"/>
                </a:solidFill>
                <a:latin typeface="Arial"/>
              </a:defRPr>
            </a:pPr>
            <a:r>
              <a:t>Who is affected? </a:t>
            </a:r>
            <a:r>
              <a:rPr sz="1500" b="0">
                <a:solidFill>
                  <a:srgbClr val="735F5F"/>
                </a:solidFill>
                <a:latin typeface="Arial"/>
              </a:rPr>
              <a:t>[ Campus students facing dense course materials, overlapping deadlines, and exam schedules. ]</a:t>
            </a:r>
          </a:p>
          <a:p>
            <a:pPr>
              <a:spcAft>
                <a:spcPts val="2000"/>
              </a:spcAft>
              <a:defRPr sz="1600" b="1">
                <a:solidFill>
                  <a:srgbClr val="2D2323"/>
                </a:solidFill>
                <a:latin typeface="Arial"/>
              </a:defRPr>
            </a:pPr>
            <a:r>
              <a:t>Why existing tools fail? </a:t>
            </a:r>
            <a:r>
              <a:rPr sz="1500" b="0">
                <a:solidFill>
                  <a:srgbClr val="735F5F"/>
                </a:solidFill>
                <a:latin typeface="Arial"/>
              </a:rPr>
              <a:t>[ ChatGPT is passive &amp; context-blind. PDF notes are static. Generic reminders are memoryless timers. None understand prerequisite dependencies or Ebbinghaus decay. ]</a:t>
            </a:r>
          </a:p>
          <a:p>
            <a:pPr>
              <a:spcAft>
                <a:spcPts val="2000"/>
              </a:spcAft>
              <a:defRPr sz="1600" b="1">
                <a:solidFill>
                  <a:srgbClr val="2D2323"/>
                </a:solidFill>
                <a:latin typeface="Arial"/>
              </a:defRPr>
            </a:pPr>
            <a:r>
              <a:t>The core insight: </a:t>
            </a:r>
            <a:r>
              <a:rPr sz="1500" b="0">
                <a:solidFill>
                  <a:srgbClr val="735F5F"/>
                </a:solidFill>
                <a:latin typeface="Arial"/>
              </a:rPr>
              <a:t>[ Students don't need another chatbot that waits for prompts; they need an autonomous AI system that manages their entire study lifecycle.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645920"/>
            <a:ext cx="4144975" cy="4389120"/>
          </a:xfrm>
          <a:prstGeom prst="round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0"/>
              </a:spcBef>
              <a:defRPr sz="4400" b="1">
                <a:solidFill>
                  <a:srgbClr val="853333"/>
                </a:solidFill>
                <a:latin typeface="Georgia"/>
              </a:defRPr>
            </a:pPr>
            <a:r>
              <a:t>[ 15+ hrs/wk ]</a:t>
            </a:r>
          </a:p>
          <a:p>
            <a:pPr algn="ctr">
              <a:spcBef>
                <a:spcPts val="2000"/>
              </a:spcBef>
              <a:defRPr sz="1300" i="1">
                <a:solidFill>
                  <a:srgbClr val="735F5F"/>
                </a:solidFill>
                <a:latin typeface="Arial"/>
              </a:defRPr>
            </a:pPr>
            <a:r>
              <a:t>[ hours wasted per student each week suffering from decision paralysis, disorganized revision, and manual schedule planning ]</a:t>
            </a:r>
          </a:p>
          <a:p>
            <a:pPr algn="ctr">
              <a:spcBef>
                <a:spcPts val="4500"/>
              </a:spcBef>
              <a:defRPr sz="1500" b="1">
                <a:solidFill>
                  <a:srgbClr val="2D2323"/>
                </a:solidFill>
                <a:latin typeface="Arial"/>
              </a:defRPr>
            </a:pPr>
            <a:r>
              <a:t>Domain: [ Higher Education / Autonomous AI Study OS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48640"/>
            <a:ext cx="548640" cy="548640"/>
          </a:xfrm>
          <a:prstGeom prst="ellipse">
            <a:avLst/>
          </a:prstGeom>
          <a:solidFill>
            <a:srgbClr val="853333"/>
          </a:solidFill>
          <a:ln>
            <a:solidFill>
              <a:srgbClr val="85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502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D2323"/>
                </a:solidFill>
                <a:latin typeface="Georgia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35F5F"/>
                </a:solidFill>
                <a:latin typeface="Arial"/>
              </a:defRPr>
            </a:pPr>
            <a:r>
              <a:t>Agent Forge Final Demo  ·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853333"/>
                </a:solidFill>
                <a:latin typeface="Arial"/>
              </a:defRPr>
            </a:pPr>
            <a:r>
              <a:t>“[ An Autonomous AI Study Operating System where specialized agents collaborate to transform passive PDFs into adaptive, reflection-validated study roadmaps. ]”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92727"/>
          </a:solidFill>
          <a:ln>
            <a:solidFill>
              <a:srgbClr val="59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011680"/>
            <a:ext cx="5760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2323"/>
                </a:solidFill>
                <a:latin typeface="Arial"/>
              </a:defRPr>
            </a:pPr>
            <a:r>
              <a:t>How one problem flows through specialized agents</a:t>
            </a:r>
          </a:p>
          <a:p>
            <a:pPr>
              <a:spcBef>
                <a:spcPts val="400"/>
              </a:spcBef>
              <a:defRPr sz="1300">
                <a:solidFill>
                  <a:srgbClr val="735F5F"/>
                </a:solidFill>
                <a:latin typeface="Arial"/>
              </a:defRPr>
            </a:pPr>
            <a:r>
              <a:t>[ Uploaded PDFs flow sequentially through DocumentAgent (extracts concepts), StrategyAgent (selects exam focus), PlannerAgent (computes priority), and ReflectionAgent (audits feasibility). ]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474720"/>
            <a:ext cx="457200" cy="457200"/>
          </a:xfrm>
          <a:prstGeom prst="ellipse">
            <a:avLst/>
          </a:prstGeom>
          <a:solidFill>
            <a:srgbClr val="592727"/>
          </a:solidFill>
          <a:ln>
            <a:solidFill>
              <a:srgbClr val="59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5760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2323"/>
                </a:solidFill>
                <a:latin typeface="Arial"/>
              </a:defRPr>
            </a:pPr>
            <a:r>
              <a:t>Why it's agentic, not a chatbot</a:t>
            </a:r>
          </a:p>
          <a:p>
            <a:pPr>
              <a:spcBef>
                <a:spcPts val="400"/>
              </a:spcBef>
              <a:defRPr sz="1300">
                <a:solidFill>
                  <a:srgbClr val="735F5F"/>
                </a:solidFill>
                <a:latin typeface="Arial"/>
              </a:defRPr>
            </a:pPr>
            <a:r>
              <a:t>[ Orchestrator autonomously delegates tasks, maintains thread-safe SharedMemoryStore, enforces Ebbinghaus retention math (R=e^(-t/S)*100), and triggers quizzes without prompts. ]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46320"/>
            <a:ext cx="457200" cy="457200"/>
          </a:xfrm>
          <a:prstGeom prst="ellipse">
            <a:avLst/>
          </a:prstGeom>
          <a:solidFill>
            <a:srgbClr val="592727"/>
          </a:solidFill>
          <a:ln>
            <a:solidFill>
              <a:srgbClr val="59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754880"/>
            <a:ext cx="5760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2323"/>
                </a:solidFill>
                <a:latin typeface="Arial"/>
              </a:defRPr>
            </a:pPr>
            <a:r>
              <a:t>What makes it different</a:t>
            </a:r>
          </a:p>
          <a:p>
            <a:pPr>
              <a:spcBef>
                <a:spcPts val="400"/>
              </a:spcBef>
              <a:defRPr sz="1300">
                <a:solidFill>
                  <a:srgbClr val="735F5F"/>
                </a:solidFill>
                <a:latin typeface="Arial"/>
              </a:defRPr>
            </a:pPr>
            <a:r>
              <a:t>[ Delivers grounded Socratic tutoring with live interactive tools (DBMS SQL Playground, DSA Code Analyzer, Formula Derivation Engine) and zero generic fallbacks. 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2103120"/>
            <a:ext cx="4389120" cy="3931920"/>
          </a:xfrm>
          <a:prstGeom prst="round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0"/>
              </a:spcBef>
              <a:defRPr sz="1400" i="1">
                <a:solidFill>
                  <a:srgbClr val="735F5F"/>
                </a:solidFill>
                <a:latin typeface="Arial"/>
              </a:defRPr>
            </a:pPr>
            <a:r>
              <a:t>[ Product Mockup: Dynamic AI Study OS Workspace featuring Active Swarm Banner &amp; Grounded Tutoring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48640"/>
            <a:ext cx="548640" cy="548640"/>
          </a:xfrm>
          <a:prstGeom prst="ellipse">
            <a:avLst/>
          </a:prstGeom>
          <a:solidFill>
            <a:srgbClr val="853333"/>
          </a:solidFill>
          <a:ln>
            <a:solidFill>
              <a:srgbClr val="85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502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D2323"/>
                </a:solidFill>
                <a:latin typeface="Georgia"/>
              </a:defRPr>
            </a:pPr>
            <a:r>
              <a:t>Architecture &amp;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35F5F"/>
                </a:solidFill>
                <a:latin typeface="Arial"/>
              </a:defRPr>
            </a:pPr>
            <a:r>
              <a:t>Agent Forge Final Demo  ·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1920240" cy="914400"/>
          </a:xfrm>
          <a:prstGeom prst="round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400"/>
              </a:spcBef>
              <a:defRPr sz="1400" b="1">
                <a:solidFill>
                  <a:srgbClr val="2D2323"/>
                </a:solidFill>
                <a:latin typeface="Arial"/>
              </a:defRPr>
            </a:pPr>
            <a:r>
              <a:t>User Goal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645920"/>
            <a:ext cx="1920240" cy="914400"/>
          </a:xfrm>
          <a:prstGeom prst="roundRect">
            <a:avLst/>
          </a:prstGeom>
          <a:solidFill>
            <a:srgbClr val="592727"/>
          </a:solidFill>
          <a:ln>
            <a:solidFill>
              <a:srgbClr val="59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400"/>
              </a:spcBef>
              <a:defRPr sz="1400" b="1">
                <a:solidFill>
                  <a:srgbClr val="FFFFFF"/>
                </a:solidFill>
                <a:latin typeface="Arial"/>
              </a:defRPr>
            </a:pPr>
            <a:r>
              <a:t>OrchestratorAgent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645920"/>
            <a:ext cx="1920240" cy="914400"/>
          </a:xfrm>
          <a:prstGeom prst="roundRect">
            <a:avLst/>
          </a:prstGeom>
          <a:solidFill>
            <a:srgbClr val="592727"/>
          </a:solidFill>
          <a:ln>
            <a:solidFill>
              <a:srgbClr val="59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400"/>
              </a:spcBef>
              <a:defRPr sz="1400" b="1">
                <a:solidFill>
                  <a:srgbClr val="FFFFFF"/>
                </a:solidFill>
                <a:latin typeface="Arial"/>
              </a:defRPr>
            </a:pPr>
            <a:r>
              <a:t>SharedMemoryStore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45920"/>
            <a:ext cx="1920240" cy="914400"/>
          </a:xfrm>
          <a:prstGeom prst="roundRect">
            <a:avLst/>
          </a:prstGeom>
          <a:solidFill>
            <a:srgbClr val="592727"/>
          </a:solidFill>
          <a:ln>
            <a:solidFill>
              <a:srgbClr val="59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400"/>
              </a:spcBef>
              <a:defRPr sz="1400" b="1">
                <a:solidFill>
                  <a:srgbClr val="FFFFFF"/>
                </a:solidFill>
                <a:latin typeface="Arial"/>
              </a:defRPr>
            </a:pPr>
            <a:r>
              <a:t>Swarm Agents (8)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1645920"/>
            <a:ext cx="1920240" cy="914400"/>
          </a:xfrm>
          <a:prstGeom prst="round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400"/>
              </a:spcBef>
              <a:defRPr sz="1400" b="1">
                <a:solidFill>
                  <a:srgbClr val="2D2323"/>
                </a:solidFill>
                <a:latin typeface="Arial"/>
              </a:defRPr>
            </a:pPr>
            <a:r>
              <a:t>Validated Response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35F5F"/>
                </a:solidFill>
                <a:latin typeface="Arial"/>
              </a:defRPr>
            </a:pPr>
            <a:r>
              <a:t>[ Clean Event-Driven Architecture: Single Orchestrator Brain delegating to 8 Domain Agents with Typed Pydantic Models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08960"/>
            <a:ext cx="11094415" cy="640080"/>
          </a:xfrm>
          <a:prstGeom prst="round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2323"/>
                </a:solidFill>
                <a:latin typeface="Arial"/>
              </a:defRPr>
            </a:pPr>
            <a:r>
              <a:t>LLM (via AMD / Local)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200400"/>
            <a:ext cx="7406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35F5F"/>
                </a:solidFill>
                <a:latin typeface="Arial"/>
              </a:defRPr>
            </a:pPr>
            <a:r>
              <a:t>[ AMD AI PC (Ryzen AI / ROCm) &amp; LocalAIService / FastAPI AI Microservice (Port 8001) 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11094415" cy="640080"/>
          </a:xfrm>
          <a:prstGeom prst="round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9776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2323"/>
                </a:solidFill>
                <a:latin typeface="Arial"/>
              </a:defRPr>
            </a:pPr>
            <a:r>
              <a:t>Orchestration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977640"/>
            <a:ext cx="7406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35F5F"/>
                </a:solidFill>
                <a:latin typeface="Arial"/>
              </a:defRPr>
            </a:pPr>
            <a:r>
              <a:t>Single OrchestratorAgent, ReflectionAgent Guardrails, SharedMemoryStore Thread-Safe Singleton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11094415" cy="640080"/>
          </a:xfrm>
          <a:prstGeom prst="round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2323"/>
                </a:solidFill>
                <a:latin typeface="Arial"/>
              </a:defRPr>
            </a:pPr>
            <a:r>
              <a:t>Tools integrated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4754880"/>
            <a:ext cx="7406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35F5F"/>
                </a:solidFill>
                <a:latin typeface="Arial"/>
              </a:defRPr>
            </a:pPr>
            <a:r>
              <a:t>[ DocumentGraphParser, Spaced Repetition Engine (R=e^(-t/S)*100), SQL Playground, APScheduler 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440679"/>
            <a:ext cx="11094415" cy="640080"/>
          </a:xfrm>
          <a:prstGeom prst="round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532119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2323"/>
                </a:solidFill>
                <a:latin typeface="Arial"/>
              </a:defRPr>
            </a:pPr>
            <a:r>
              <a:t>Hardware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5532119"/>
            <a:ext cx="7406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35F5F"/>
                </a:solidFill>
                <a:latin typeface="Arial"/>
              </a:defRPr>
            </a:pPr>
            <a:r>
              <a:t>AMD AI PC ( Ryzen AI / ROCm 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48640"/>
            <a:ext cx="548640" cy="548640"/>
          </a:xfrm>
          <a:prstGeom prst="ellipse">
            <a:avLst/>
          </a:prstGeom>
          <a:solidFill>
            <a:srgbClr val="853333"/>
          </a:solidFill>
          <a:ln>
            <a:solidFill>
              <a:srgbClr val="85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502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D2323"/>
                </a:solidFill>
                <a:latin typeface="Georgia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35F5F"/>
                </a:solidFill>
                <a:latin typeface="Arial"/>
              </a:defRPr>
            </a:pPr>
            <a:r>
              <a:t>Agent Forge Final Demo  ·  6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560320"/>
            <a:ext cx="1280160" cy="1280160"/>
          </a:xfrm>
          <a:prstGeom prst="ellipse">
            <a:avLst/>
          </a:prstGeom>
          <a:solidFill>
            <a:srgbClr val="592727"/>
          </a:solidFill>
          <a:ln>
            <a:solidFill>
              <a:srgbClr val="59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735F5F"/>
                </a:solidFill>
                <a:latin typeface="Arial"/>
              </a:defRPr>
            </a:pPr>
            <a:r>
              <a:t>[ Upload PDF &amp; Extract Graph ]</a:t>
            </a:r>
            <a:br/>
            <a:r>
              <a:t>DocumentAgent extracts concepts, formulas, code blocks, and prerequisite edges.</a:t>
            </a:r>
          </a:p>
        </p:txBody>
      </p:sp>
      <p:sp>
        <p:nvSpPr>
          <p:cNvPr id="7" name="Oval 6"/>
          <p:cNvSpPr/>
          <p:nvPr/>
        </p:nvSpPr>
        <p:spPr>
          <a:xfrm>
            <a:off x="3749039" y="2560320"/>
            <a:ext cx="1280160" cy="1280160"/>
          </a:xfrm>
          <a:prstGeom prst="ellipse">
            <a:avLst/>
          </a:prstGeom>
          <a:solidFill>
            <a:srgbClr val="592727"/>
          </a:solidFill>
          <a:ln>
            <a:solidFill>
              <a:srgbClr val="59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39" y="411480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735F5F"/>
                </a:solidFill>
                <a:latin typeface="Arial"/>
              </a:defRPr>
            </a:pPr>
            <a:r>
              <a:t>[ Reason &amp; Plan (Think) ]</a:t>
            </a:r>
            <a:br/>
            <a:r>
              <a:t>StrategyAgent selects learning focus; PlannerAgent computes 5-factor priority scores.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0" y="2560320"/>
            <a:ext cx="1280160" cy="1280160"/>
          </a:xfrm>
          <a:prstGeom prst="ellipse">
            <a:avLst/>
          </a:prstGeom>
          <a:solidFill>
            <a:srgbClr val="592727"/>
          </a:solidFill>
          <a:ln>
            <a:solidFill>
              <a:srgbClr val="59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411480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735F5F"/>
                </a:solidFill>
                <a:latin typeface="Arial"/>
              </a:defRPr>
            </a:pPr>
            <a:r>
              <a:t>[ Audit &amp; Reflect (Act) ]</a:t>
            </a:r>
            <a:br/>
            <a:r>
              <a:t>ReflectionAgent validates workload feasibility, caps study at 12 hrs, and prevents burnout.</a:t>
            </a:r>
          </a:p>
        </p:txBody>
      </p:sp>
      <p:sp>
        <p:nvSpPr>
          <p:cNvPr id="11" name="Oval 10"/>
          <p:cNvSpPr/>
          <p:nvPr/>
        </p:nvSpPr>
        <p:spPr>
          <a:xfrm>
            <a:off x="9052560" y="2560320"/>
            <a:ext cx="1280160" cy="1280160"/>
          </a:xfrm>
          <a:prstGeom prst="ellipse">
            <a:avLst/>
          </a:prstGeom>
          <a:solidFill>
            <a:srgbClr val="592727"/>
          </a:solidFill>
          <a:ln>
            <a:solidFill>
              <a:srgbClr val="59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11480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735F5F"/>
                </a:solidFill>
                <a:latin typeface="Arial"/>
              </a:defRPr>
            </a:pPr>
            <a:r>
              <a:t>[ Adapt &amp; Teach (Observe) ]</a:t>
            </a:r>
            <a:br/>
            <a:r>
              <a:t>TutorAgent delivers grounded feedback; LearningAgent updates Ebbinghaus memory decay curve.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35F5F"/>
                </a:solidFill>
                <a:latin typeface="Arial"/>
              </a:defRPr>
            </a:pPr>
            <a:r>
              <a:t>[ End-to-End Intelligent Loop: Document Analysis → Strategy Selection → Priority Math → Feasibility Reflection → Grounded Tutoring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48640"/>
            <a:ext cx="548640" cy="548640"/>
          </a:xfrm>
          <a:prstGeom prst="ellipse">
            <a:avLst/>
          </a:prstGeom>
          <a:solidFill>
            <a:srgbClr val="853333"/>
          </a:solidFill>
          <a:ln>
            <a:solidFill>
              <a:srgbClr val="85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502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D2323"/>
                </a:solidFill>
                <a:latin typeface="Georgia"/>
              </a:defRPr>
            </a:pPr>
            <a:r>
              <a:t>Demo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35F5F"/>
                </a:solidFill>
                <a:latin typeface="Arial"/>
              </a:defRPr>
            </a:pPr>
            <a:r>
              <a:t>Agent Forge Final Demo  ·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76218" cy="3200400"/>
          </a:xfrm>
          <a:prstGeom prst="round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500"/>
              </a:spcBef>
              <a:defRPr sz="1400" i="1">
                <a:solidFill>
                  <a:srgbClr val="735F5F"/>
                </a:solidFill>
                <a:latin typeface="Arial"/>
              </a:defRPr>
            </a:pPr>
            <a:r>
              <a:t>[ PDF Upload &amp; Swarm Analysis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357621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735F5F"/>
                </a:solidFill>
                <a:latin typeface="Arial"/>
              </a:defRPr>
            </a:pPr>
            <a:r>
              <a:t>[ What Happened: DocumentAgent extracted 9 chapters.</a:t>
            </a:r>
            <a:br/>
            <a:r>
              <a:t>Why AI Chose This: StrategyAgent detected sequential syllabus -&gt; selected Exam-Focused strategy.</a:t>
            </a:r>
            <a:br/>
            <a:r>
              <a:t>What Changed: Auto-generated knowledge graph without prompts. 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7738" y="1645920"/>
            <a:ext cx="3576218" cy="3200400"/>
          </a:xfrm>
          <a:prstGeom prst="round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500"/>
              </a:spcBef>
              <a:defRPr sz="1400" i="1">
                <a:solidFill>
                  <a:srgbClr val="735F5F"/>
                </a:solidFill>
                <a:latin typeface="Arial"/>
              </a:defRPr>
            </a:pPr>
            <a:r>
              <a:t>[ Proactive Study Roadmap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738" y="4937760"/>
            <a:ext cx="357621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735F5F"/>
                </a:solidFill>
                <a:latin typeface="Arial"/>
              </a:defRPr>
            </a:pPr>
            <a:r>
              <a:t>[ What Happened: PlannerAgent allocated 35-min sessions.</a:t>
            </a:r>
            <a:br/>
            <a:r>
              <a:t>Why AI Chose This: ReflectionAgent audited workload -&gt; capped daily ceiling at 12 hrs.</a:t>
            </a:r>
            <a:br/>
            <a:r>
              <a:t>What Changed: Daily roadmap auto-updates in real time. 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6836" y="1645920"/>
            <a:ext cx="3576218" cy="3200400"/>
          </a:xfrm>
          <a:prstGeom prst="round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500"/>
              </a:spcBef>
              <a:defRPr sz="1400" i="1">
                <a:solidFill>
                  <a:srgbClr val="735F5F"/>
                </a:solidFill>
                <a:latin typeface="Arial"/>
              </a:defRPr>
            </a:pPr>
            <a:r>
              <a:t>[ Grounded Socratic Tutoring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6836" y="4937760"/>
            <a:ext cx="357621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735F5F"/>
                </a:solidFill>
                <a:latin typeface="Arial"/>
              </a:defRPr>
            </a:pPr>
            <a:r>
              <a:t>[ What Happened: TutorAgent answered student concept query.</a:t>
            </a:r>
            <a:br/>
            <a:r>
              <a:t>Why AI Chose This: Enforced 6-knob rubric matrix to eliminate hallucinations.</a:t>
            </a:r>
            <a:br/>
            <a:r>
              <a:t>What Changed: Interactive SQL Playground launched automatically.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594360"/>
          </a:xfrm>
          <a:prstGeom prst="roundRect">
            <a:avLst/>
          </a:prstGeom>
          <a:solidFill>
            <a:srgbClr val="592727"/>
          </a:solidFill>
          <a:ln>
            <a:solidFill>
              <a:srgbClr val="59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Demo video: Google Drive Link (To Be Added)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48640"/>
            <a:ext cx="548640" cy="548640"/>
          </a:xfrm>
          <a:prstGeom prst="ellipse">
            <a:avLst/>
          </a:prstGeom>
          <a:solidFill>
            <a:srgbClr val="853333"/>
          </a:solidFill>
          <a:ln>
            <a:solidFill>
              <a:srgbClr val="85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502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D2323"/>
                </a:solidFill>
                <a:latin typeface="Georgia"/>
              </a:defRPr>
            </a:pPr>
            <a:r>
              <a:t>Challenges &amp; Learnings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35F5F"/>
                </a:solidFill>
                <a:latin typeface="Arial"/>
              </a:defRPr>
            </a:pPr>
            <a:r>
              <a:t>Agent Forge Final Demo  ·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03520" cy="4389120"/>
          </a:xfrm>
          <a:prstGeom prst="round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2000" b="1">
                <a:solidFill>
                  <a:srgbClr val="2D2323"/>
                </a:solidFill>
                <a:latin typeface="Arial"/>
              </a:defRPr>
            </a:pPr>
            <a:r>
              <a:t>Challenges</a:t>
            </a:r>
          </a:p>
          <a:p>
            <a:pPr>
              <a:spcAft>
                <a:spcPts val="1600"/>
              </a:spcAft>
              <a:defRPr sz="1400">
                <a:solidFill>
                  <a:srgbClr val="735F5F"/>
                </a:solidFill>
                <a:latin typeface="Arial"/>
              </a:defRPr>
            </a:pPr>
            <a:r>
              <a:t>•  [ Eliminating LLM Hallucinations: Enforcing strict document grounding so the AI tutor never quotes external unverified facts ]</a:t>
            </a:r>
          </a:p>
          <a:p>
            <a:pPr>
              <a:spcAft>
                <a:spcPts val="1600"/>
              </a:spcAft>
              <a:defRPr sz="1400">
                <a:solidFill>
                  <a:srgbClr val="735F5F"/>
                </a:solidFill>
                <a:latin typeface="Arial"/>
              </a:defRPr>
            </a:pPr>
            <a:r>
              <a:t>•  [ Thread-Safe Memory Persistence: Maintaining thread-safe SharedMemoryStore state across multi-threaded FastAPI workers ]</a:t>
            </a:r>
          </a:p>
          <a:p>
            <a:pPr>
              <a:spcAft>
                <a:spcPts val="1600"/>
              </a:spcAft>
              <a:defRPr sz="1400">
                <a:solidFill>
                  <a:srgbClr val="735F5F"/>
                </a:solidFill>
                <a:latin typeface="Arial"/>
              </a:defRPr>
            </a:pPr>
            <a:r>
              <a:t>•  [ Real-Time Reflection Guardrails: Building ReflectionAgent to audit schedules and adjust daily workload ceilings dynamically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2D2323"/>
                </a:solidFill>
                <a:latin typeface="Arial"/>
              </a:defRPr>
            </a:pPr>
            <a:r>
              <a:t>Learnings</a:t>
            </a:r>
          </a:p>
          <a:p>
            <a:pPr>
              <a:spcAft>
                <a:spcPts val="1600"/>
              </a:spcAft>
              <a:defRPr sz="1400">
                <a:solidFill>
                  <a:srgbClr val="735F5F"/>
                </a:solidFill>
                <a:latin typeface="Arial"/>
              </a:defRPr>
            </a:pPr>
            <a:r>
              <a:t>•  [ Deterministic Scoring + LLM Nuance: Combining 5-factor math (0.35U + 0.20W + 0.20I + 0.10E + 0.15R) with LLM presentation yields fast, reliable planning ]</a:t>
            </a:r>
          </a:p>
          <a:p>
            <a:pPr>
              <a:spcAft>
                <a:spcPts val="1600"/>
              </a:spcAft>
              <a:defRPr sz="1400">
                <a:solidFill>
                  <a:srgbClr val="735F5F"/>
                </a:solidFill>
                <a:latin typeface="Arial"/>
              </a:defRPr>
            </a:pPr>
            <a:r>
              <a:t>•  [ Typed Communication Contracts: Using Pydantic models for inter-agent communication prevents schema drift ]</a:t>
            </a:r>
          </a:p>
          <a:p>
            <a:pPr>
              <a:spcAft>
                <a:spcPts val="1600"/>
              </a:spcAft>
              <a:defRPr sz="1400">
                <a:solidFill>
                  <a:srgbClr val="735F5F"/>
                </a:solidFill>
                <a:latin typeface="Arial"/>
              </a:defRPr>
            </a:pPr>
            <a:r>
              <a:t>•  [ Proactive Over Reactive: Shifting from reactive prompt-response to proactive goal-driven agent swarms vastly improves student engagement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48640"/>
            <a:ext cx="548640" cy="548640"/>
          </a:xfrm>
          <a:prstGeom prst="ellipse">
            <a:avLst/>
          </a:prstGeom>
          <a:solidFill>
            <a:srgbClr val="853333"/>
          </a:solidFill>
          <a:ln>
            <a:solidFill>
              <a:srgbClr val="85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502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D2323"/>
                </a:solidFill>
                <a:latin typeface="Georgia"/>
              </a:defRPr>
            </a:pPr>
            <a:r>
              <a:t>Results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35F5F"/>
                </a:solidFill>
                <a:latin typeface="Arial"/>
              </a:defRPr>
            </a:pPr>
            <a:r>
              <a:t>Agent Forge Final Demo  ·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D2323"/>
                </a:solidFill>
                <a:latin typeface="Arial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853333"/>
                </a:solidFill>
                <a:latin typeface="Georgia"/>
              </a:defRPr>
            </a:pPr>
            <a:r>
              <a:t>[ 100% ]</a:t>
            </a:r>
          </a:p>
          <a:p>
            <a:pPr algn="ctr">
              <a:spcBef>
                <a:spcPts val="600"/>
              </a:spcBef>
              <a:defRPr sz="1100">
                <a:solidFill>
                  <a:srgbClr val="735F5F"/>
                </a:solidFill>
                <a:latin typeface="Arial"/>
              </a:defRPr>
            </a:pPr>
            <a:r>
              <a:t>deterministic priority calculation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28600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853333"/>
                </a:solidFill>
                <a:latin typeface="Georgia"/>
              </a:defRPr>
            </a:pPr>
            <a:r>
              <a:t>[ 19 / 19 ]</a:t>
            </a:r>
          </a:p>
          <a:p>
            <a:pPr algn="ctr">
              <a:spcBef>
                <a:spcPts val="600"/>
              </a:spcBef>
              <a:defRPr sz="1100">
                <a:solidFill>
                  <a:srgbClr val="735F5F"/>
                </a:solidFill>
                <a:latin typeface="Arial"/>
              </a:defRPr>
            </a:pPr>
            <a:r>
              <a:t>backend test cases passing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28600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853333"/>
                </a:solidFill>
                <a:latin typeface="Georgia"/>
              </a:defRPr>
            </a:pPr>
            <a:r>
              <a:t>[ 8 ]</a:t>
            </a:r>
          </a:p>
          <a:p>
            <a:pPr algn="ctr">
              <a:spcBef>
                <a:spcPts val="600"/>
              </a:spcBef>
              <a:defRPr sz="1100">
                <a:solidFill>
                  <a:srgbClr val="735F5F"/>
                </a:solidFill>
                <a:latin typeface="Arial"/>
              </a:defRPr>
            </a:pPr>
            <a:r>
              <a:t>collaborating AI agents integrated into Orchestrator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735F5F"/>
                </a:solidFill>
                <a:latin typeface="Arial"/>
              </a:defRPr>
            </a:pPr>
            <a:r>
              <a:t>[ Fully functional, unit-tested AI Study Operating System running on AMD AI PC with zero legacy fallback loops and zero runtime errors.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645920"/>
            <a:ext cx="18288" cy="4389120"/>
          </a:xfrm>
          <a:prstGeom prst="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D2323"/>
                </a:solidFill>
                <a:latin typeface="Arial"/>
              </a:defRPr>
            </a:pPr>
            <a:r>
              <a:t>Future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400">
                <a:solidFill>
                  <a:srgbClr val="735F5F"/>
                </a:solidFill>
                <a:latin typeface="Arial"/>
              </a:defRPr>
            </a:pPr>
            <a:r>
              <a:t>•  [ Campus Peer Group Synchronization: Multi-student collaborative study roadmaps and shared quiz challenges ]</a:t>
            </a:r>
          </a:p>
          <a:p>
            <a:pPr>
              <a:spcAft>
                <a:spcPts val="2000"/>
              </a:spcAft>
              <a:defRPr sz="1400">
                <a:solidFill>
                  <a:srgbClr val="735F5F"/>
                </a:solidFill>
                <a:latin typeface="Arial"/>
              </a:defRPr>
            </a:pPr>
            <a:r>
              <a:t>•  [ On-Device NPU Acceleration: Quantized Llama 3.2 / Qwen 2.5 local execution accelerated via AMD Ryzen AI NPU ]</a:t>
            </a:r>
          </a:p>
          <a:p>
            <a:pPr>
              <a:spcAft>
                <a:spcPts val="2000"/>
              </a:spcAft>
              <a:defRPr sz="1400">
                <a:solidFill>
                  <a:srgbClr val="735F5F"/>
                </a:solidFill>
                <a:latin typeface="Arial"/>
              </a:defRPr>
            </a:pPr>
            <a:r>
              <a:t>•  [ Campus LMS Timetable Integration: Automated sync with Canvas, Blackboard, and Moodle assignment calendars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48640"/>
            <a:ext cx="548640" cy="548640"/>
          </a:xfrm>
          <a:prstGeom prst="ellipse">
            <a:avLst/>
          </a:prstGeom>
          <a:solidFill>
            <a:srgbClr val="853333"/>
          </a:solidFill>
          <a:ln>
            <a:solidFill>
              <a:srgbClr val="85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502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D2323"/>
                </a:solidFill>
                <a:latin typeface="Georgia"/>
              </a:defRPr>
            </a:pPr>
            <a: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35F5F"/>
                </a:solidFill>
                <a:latin typeface="Arial"/>
              </a:defRPr>
            </a:pPr>
            <a:r>
              <a:t>Agent Forge Final Demo  ·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4415" cy="822960"/>
          </a:xfrm>
          <a:prstGeom prst="roundRect">
            <a:avLst/>
          </a:prstGeom>
          <a:solidFill>
            <a:srgbClr val="592727"/>
          </a:solidFill>
          <a:ln>
            <a:solidFill>
              <a:srgbClr val="59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FFFFF"/>
                </a:solidFill>
                <a:latin typeface="Arial"/>
              </a:defRPr>
            </a:pPr>
            <a:r>
              <a:t>Not valid references: Wikipedia, plain Google search results, and AI tools (ChatGPT, Claude, Gemini, etc.) do not count as citable sources. Cite the original, authoritative source instead.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35F5F"/>
                </a:solidFill>
                <a:latin typeface="Arial"/>
              </a:defRPr>
            </a:pPr>
            <a:r>
              <a:t>Use one consistent format throughout. Two common standards: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D2323"/>
                </a:solidFill>
                <a:latin typeface="Arial"/>
              </a:defRPr>
            </a:pPr>
            <a:r>
              <a:t>IEEE style</a:t>
            </a:r>
          </a:p>
          <a:p>
            <a:pPr>
              <a:spcAft>
                <a:spcPts val="1000"/>
              </a:spcAft>
              <a:defRPr sz="1100">
                <a:solidFill>
                  <a:srgbClr val="735F5F"/>
                </a:solidFill>
                <a:latin typeface="Courier New"/>
              </a:defRPr>
            </a:pPr>
            <a:r>
              <a:t>[1] H. Ebbinghaus, “Memory: A Contribution to Experimental Psychology,” Teachers College, Columbia University, 1885.</a:t>
            </a:r>
          </a:p>
          <a:p>
            <a:pPr>
              <a:spcAft>
                <a:spcPts val="1000"/>
              </a:spcAft>
              <a:defRPr sz="1100">
                <a:solidFill>
                  <a:srgbClr val="735F5F"/>
                </a:solidFill>
                <a:latin typeface="Courier New"/>
              </a:defRPr>
            </a:pPr>
            <a:r>
              <a:t>[2] P. A. Kirschner, “Sweller's Cognitive Load Theory in Action,” John Catt Educational, 2020.</a:t>
            </a:r>
          </a:p>
          <a:p>
            <a:pPr>
              <a:spcAft>
                <a:spcPts val="1000"/>
              </a:spcAft>
              <a:defRPr sz="1100">
                <a:solidFill>
                  <a:srgbClr val="735F5F"/>
                </a:solidFill>
                <a:latin typeface="Courier New"/>
              </a:defRPr>
            </a:pPr>
            <a:r>
              <a:t>[3] AMD Corporation, “Ryzen AI Software &amp; NPU Architecture Guide,” 2024. [Online]. Available: https://ryzenai.docs.amd.com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2834640"/>
            <a:ext cx="18288" cy="3383280"/>
          </a:xfrm>
          <a:prstGeom prst="rect">
            <a:avLst/>
          </a:prstGeom>
          <a:solidFill>
            <a:srgbClr val="F2EAE0"/>
          </a:solidFill>
          <a:ln>
            <a:solidFill>
              <a:srgbClr val="F2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834640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D2323"/>
                </a:solidFill>
                <a:latin typeface="Arial"/>
              </a:defRPr>
            </a:pPr>
            <a:r>
              <a:t>APA style (7th ed.)</a:t>
            </a:r>
          </a:p>
          <a:p>
            <a:pPr>
              <a:spcAft>
                <a:spcPts val="1000"/>
              </a:spcAft>
              <a:defRPr sz="1100">
                <a:solidFill>
                  <a:srgbClr val="735F5F"/>
                </a:solidFill>
                <a:latin typeface="Courier New"/>
              </a:defRPr>
            </a:pPr>
            <a:r>
              <a:t>Ebbinghaus, H. (1885). Memory: A contribution to experimental psychology. Columbia University.</a:t>
            </a:r>
          </a:p>
          <a:p>
            <a:pPr>
              <a:spcAft>
                <a:spcPts val="1000"/>
              </a:spcAft>
              <a:defRPr sz="1100">
                <a:solidFill>
                  <a:srgbClr val="735F5F"/>
                </a:solidFill>
                <a:latin typeface="Courier New"/>
              </a:defRPr>
            </a:pPr>
            <a:r>
              <a:t>FastAPI Software. (2024). FastAPI high performance web framework. https://fastapi.tiangolo.com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