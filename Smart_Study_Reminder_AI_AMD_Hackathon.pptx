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6400800" cy="6400800"/>
          </a:xfrm>
          <a:prstGeom prst="ellipse">
            <a:avLst/>
          </a:prstGeom>
          <a:noFill/>
          <a:ln w="25400"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53333"/>
                </a:solidFill>
                <a:latin typeface="Georgia"/>
              </a:defRPr>
            </a:pPr>
            <a:r>
              <a:t>[ Smart Study Reminder AI ]</a:t>
            </a:r>
          </a:p>
          <a:p>
            <a:pPr algn="ctr">
              <a:spcBef>
                <a:spcPts val="1200"/>
              </a:spcBef>
              <a:defRPr sz="1600" i="1">
                <a:solidFill>
                  <a:srgbClr val="853333"/>
                </a:solidFill>
                <a:latin typeface="Arial"/>
              </a:defRPr>
            </a:pPr>
            <a:r>
              <a:t>Autonomous AI Study Operating System  ·  AMD AI PC Mini-Hackathon</a:t>
            </a:r>
          </a:p>
          <a:p>
            <a:pPr algn="ctr">
              <a:spcBef>
                <a:spcPts val="600"/>
              </a:spcBef>
              <a:defRPr sz="1600" i="1">
                <a:solidFill>
                  <a:srgbClr val="853333"/>
                </a:solidFill>
                <a:latin typeface="Arial"/>
              </a:defRPr>
            </a:pPr>
            <a:r>
              <a:t>Agent 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53333"/>
                </a:solidFill>
                <a:latin typeface="Arial"/>
              </a:defRPr>
            </a:pPr>
            <a:r>
              <a:t>Team Name:  SVCE Boys</a:t>
            </a:r>
          </a:p>
          <a:p>
            <a:pPr>
              <a:spcBef>
                <a:spcPts val="1000"/>
              </a:spcBef>
              <a:defRPr sz="1400" b="1">
                <a:solidFill>
                  <a:srgbClr val="853333"/>
                </a:solidFill>
                <a:latin typeface="Arial"/>
              </a:defRPr>
            </a:pPr>
            <a:r>
              <a:t>Team Members:  B Puneeth Reddy  ·  B Parandama  ·  K Abhishek</a:t>
            </a:r>
          </a:p>
          <a:p>
            <a:pPr>
              <a:spcBef>
                <a:spcPts val="1000"/>
              </a:spcBef>
              <a:defRPr sz="1400" b="1">
                <a:solidFill>
                  <a:srgbClr val="853333"/>
                </a:solidFill>
                <a:latin typeface="Arial"/>
              </a:defRPr>
            </a:pPr>
            <a:r>
              <a:t>Institution:  Sri Venkateswara College of Engineering</a:t>
            </a:r>
          </a:p>
          <a:p>
            <a:pPr>
              <a:spcBef>
                <a:spcPts val="1000"/>
              </a:spcBef>
              <a:defRPr sz="1400" b="1">
                <a:solidFill>
                  <a:srgbClr val="853333"/>
                </a:solidFill>
                <a:latin typeface="Arial"/>
              </a:defRPr>
            </a:pPr>
            <a:r>
              <a:t>Name of Mentor:  Pradeep Sajnani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Your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76218" cy="347472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2757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53333"/>
                </a:solidFill>
                <a:latin typeface="Arial"/>
              </a:defRPr>
            </a:pPr>
            <a:r>
              <a:t>Track 1</a:t>
            </a:r>
          </a:p>
          <a:p>
            <a:pPr>
              <a:spcBef>
                <a:spcPts val="800"/>
              </a:spcBef>
              <a:defRPr sz="1800" b="1">
                <a:solidFill>
                  <a:srgbClr val="2D2323"/>
                </a:solidFill>
                <a:latin typeface="Arial"/>
              </a:defRPr>
            </a:pPr>
            <a:r>
              <a:t>Build for Someone You Know</a:t>
            </a:r>
          </a:p>
          <a:p>
            <a:pPr>
              <a:spcBef>
                <a:spcPts val="12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Find a real person — a parent, a neighbour, a shopkeeper. Interview them. Build an AI solution made specifically for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645920"/>
            <a:ext cx="3576218" cy="3474720"/>
          </a:xfrm>
          <a:prstGeom prst="roundRect">
            <a:avLst/>
          </a:prstGeom>
          <a:solidFill>
            <a:srgbClr val="F2EAE0"/>
          </a:solidFill>
          <a:ln w="25400"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73498" y="201168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2058" y="2743200"/>
            <a:ext cx="302757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53333"/>
                </a:solidFill>
                <a:latin typeface="Arial"/>
              </a:defRPr>
            </a:pPr>
            <a:r>
              <a:t>Track 2</a:t>
            </a:r>
          </a:p>
          <a:p>
            <a:pPr>
              <a:spcBef>
                <a:spcPts val="800"/>
              </a:spcBef>
              <a:defRPr sz="1800" b="1">
                <a:solidFill>
                  <a:srgbClr val="2D2323"/>
                </a:solidFill>
                <a:latin typeface="Arial"/>
              </a:defRPr>
            </a:pPr>
            <a:r>
              <a:t>Build for Your Campus</a:t>
            </a:r>
          </a:p>
          <a:p>
            <a:pPr>
              <a:spcBef>
                <a:spcPts val="12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Identify a genuine need inside your college — campus students spend hours deciding WHAT to study before they even start studying.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645920"/>
            <a:ext cx="3576218" cy="347472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2596" y="201168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743200"/>
            <a:ext cx="302757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53333"/>
                </a:solidFill>
                <a:latin typeface="Arial"/>
              </a:defRPr>
            </a:pPr>
            <a:r>
              <a:t>Track 3</a:t>
            </a:r>
          </a:p>
          <a:p>
            <a:pPr>
              <a:spcBef>
                <a:spcPts val="800"/>
              </a:spcBef>
              <a:defRPr sz="1800" b="1">
                <a:solidFill>
                  <a:srgbClr val="2D2323"/>
                </a:solidFill>
                <a:latin typeface="Arial"/>
              </a:defRPr>
            </a:pPr>
            <a:r>
              <a:t>Build for Your Community</a:t>
            </a:r>
          </a:p>
          <a:p>
            <a:pPr>
              <a:spcBef>
                <a:spcPts val="12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Go beyond campus — a local market, a clinic, a public service. Find the problem your community lives with every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03520"/>
            <a:ext cx="11094415" cy="82296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Our team's track: Track 2 — Build for Your Campus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2D2323"/>
                </a:solidFill>
                <a:latin typeface="Arial"/>
              </a:defRPr>
            </a:pPr>
            <a:r>
              <a:t>Who is affected? </a:t>
            </a:r>
            <a:r>
              <a:rPr sz="1500" b="0">
                <a:solidFill>
                  <a:srgbClr val="735F5F"/>
                </a:solidFill>
                <a:latin typeface="Arial"/>
              </a:rPr>
              <a:t>[ Campus students balancing dense course syllabi, lab submissions, and exam dates. ]</a:t>
            </a:r>
          </a:p>
          <a:p>
            <a:pPr>
              <a:spcAft>
                <a:spcPts val="2000"/>
              </a:spcAft>
              <a:defRPr sz="1600" b="1">
                <a:solidFill>
                  <a:srgbClr val="2D2323"/>
                </a:solidFill>
                <a:latin typeface="Arial"/>
              </a:defRPr>
            </a:pPr>
            <a:r>
              <a:t>Why generic tools fail? </a:t>
            </a:r>
            <a:r>
              <a:rPr sz="1500" b="0">
                <a:solidFill>
                  <a:srgbClr val="735F5F"/>
                </a:solidFill>
                <a:latin typeface="Arial"/>
              </a:rPr>
              <a:t>[ ChatGPT is context-blind &amp; passive. PDF notes are dead text. Generic reminders are memoryless timers. None track prerequisite graphs or Ebbinghaus memory decay. ]</a:t>
            </a:r>
          </a:p>
          <a:p>
            <a:pPr>
              <a:spcAft>
                <a:spcPts val="2000"/>
              </a:spcAft>
              <a:defRPr sz="1600" b="1">
                <a:solidFill>
                  <a:srgbClr val="2D2323"/>
                </a:solidFill>
                <a:latin typeface="Arial"/>
              </a:defRPr>
            </a:pPr>
            <a:r>
              <a:t>The core insight: </a:t>
            </a:r>
            <a:r>
              <a:rPr sz="1500" b="0">
                <a:solidFill>
                  <a:srgbClr val="735F5F"/>
                </a:solidFill>
                <a:latin typeface="Arial"/>
              </a:rPr>
              <a:t>[ Students don't need another chatbot that waits for manual prompts; they need an AI system that reasons over their course load and builds adaptive study plans.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144975" cy="438912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4400" b="1">
                <a:solidFill>
                  <a:srgbClr val="853333"/>
                </a:solidFill>
                <a:latin typeface="Georgia"/>
              </a:defRPr>
            </a:pPr>
            <a:r>
              <a:t>[ 15+ hrs/wk ]</a:t>
            </a:r>
          </a:p>
          <a:p>
            <a:pPr algn="ctr">
              <a:spcBef>
                <a:spcPts val="2000"/>
              </a:spcBef>
              <a:defRPr sz="1300" i="1">
                <a:solidFill>
                  <a:srgbClr val="735F5F"/>
                </a:solidFill>
                <a:latin typeface="Arial"/>
              </a:defRPr>
            </a:pPr>
            <a:r>
              <a:t>[ hours lost per student each week in decision paralysis, manual scheduling friction, and unorganized exam revision ]</a:t>
            </a:r>
          </a:p>
          <a:p>
            <a:pPr algn="ctr">
              <a:spcBef>
                <a:spcPts val="4500"/>
              </a:spcBef>
              <a:defRPr sz="1500" b="1">
                <a:solidFill>
                  <a:srgbClr val="2D2323"/>
                </a:solidFill>
                <a:latin typeface="Arial"/>
              </a:defRPr>
            </a:pPr>
            <a:r>
              <a:t>Domain: [ Education / Campus Learning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853333"/>
                </a:solidFill>
                <a:latin typeface="Arial"/>
              </a:defRPr>
            </a:pPr>
            <a:r>
              <a:t>“[ An AI Study Operating System where specialized agents reason over course materials to generate adaptive, reflection-validated study roadmaps. ]”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323"/>
                </a:solidFill>
                <a:latin typeface="Arial"/>
              </a:defRPr>
            </a:pPr>
            <a:r>
              <a:t>Concrete AI reasoning example</a:t>
            </a:r>
          </a:p>
          <a:p>
            <a:pPr>
              <a:spcBef>
                <a:spcPts val="4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[ Student has DBMS exam in 3 days with 1 hour available today. DocumentAgent extracts 9 topics. StrategyAgent selects Exam-Focused mode. PlannerAgent scores priority. ReflectionAgent audits 12-hr workload ceiling. ]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323"/>
                </a:solidFill>
                <a:latin typeface="Arial"/>
              </a:defRPr>
            </a:pPr>
            <a:r>
              <a:t>Why it's agentic, not a chatbot</a:t>
            </a:r>
          </a:p>
          <a:p>
            <a:pPr>
              <a:spcBef>
                <a:spcPts val="4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[ Orchestrator automatically loads context from SharedMemoryStore, enforces Ebbinghaus retention math (R=e^(-t/S)*100), and triggers review sessions without manual prompts. ]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323"/>
                </a:solidFill>
                <a:latin typeface="Arial"/>
              </a:defRPr>
            </a:pPr>
            <a:r>
              <a:t>What makes it different</a:t>
            </a:r>
          </a:p>
          <a:p>
            <a:pPr>
              <a:spcBef>
                <a:spcPts val="400"/>
              </a:spcBef>
              <a:defRPr sz="1300">
                <a:solidFill>
                  <a:srgbClr val="735F5F"/>
                </a:solidFill>
                <a:latin typeface="Arial"/>
              </a:defRPr>
            </a:pPr>
            <a:r>
              <a:t>[ Combines 5-factor priority math (0.35U + 0.20W + 0.20I + 0.10E + 0.15R) with grounded Socratic tutoring and interactive subject tools.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103120"/>
            <a:ext cx="4389120" cy="393192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0"/>
              </a:spcBef>
              <a:defRPr sz="1400" i="1">
                <a:solidFill>
                  <a:srgbClr val="735F5F"/>
                </a:solidFill>
                <a:latin typeface="Arial"/>
              </a:defRPr>
            </a:pPr>
            <a:r>
              <a:t>[ Product UI: AI Study OS Dashboard displaying Real-Time Swarm Execution Banner &amp; Adaptive Session Plan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920240" cy="91440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1400" b="1">
                <a:solidFill>
                  <a:srgbClr val="2D2323"/>
                </a:solidFill>
                <a:latin typeface="Arial"/>
              </a:defRPr>
            </a:pPr>
            <a:r>
              <a:t>User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1920240" cy="91440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1920240" cy="91440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Specialized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1920240" cy="91440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Shared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1920240" cy="91440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  <a:defRPr sz="1400" b="1">
                <a:solidFill>
                  <a:srgbClr val="2D2323"/>
                </a:solidFill>
                <a:latin typeface="Arial"/>
              </a:defRPr>
            </a:pPr>
            <a:r>
              <a:t>Adapted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35F5F"/>
                </a:solidFill>
                <a:latin typeface="Arial"/>
              </a:defRPr>
            </a:pPr>
            <a:r>
              <a:t>[ System Flow: Orchestrator passes goal to Document, Strategy, Planner, Reflection, and Tutor agents via Shared Memory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094415" cy="64008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323"/>
                </a:solidFill>
                <a:latin typeface="Arial"/>
              </a:defRPr>
            </a:pPr>
            <a:r>
              <a:t>LLM (via AMD / Local)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5F5F"/>
                </a:solidFill>
                <a:latin typeface="Arial"/>
              </a:defRPr>
            </a:pPr>
            <a:r>
              <a:t>[ AMD AI PC (Ryzen AI / ROCm) &amp; LocalAIService / FastAPI Microservice (Port 8001)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94415" cy="64008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323"/>
                </a:solidFill>
                <a:latin typeface="Arial"/>
              </a:defRPr>
            </a:pPr>
            <a: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977640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5F5F"/>
                </a:solidFill>
                <a:latin typeface="Arial"/>
              </a:defRPr>
            </a:pPr>
            <a:r>
              <a:t>Single OrchestratorAgent, ReflectionAgent Guardrails, SharedMemoryStore Thread-Safe Singleton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94415" cy="64008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323"/>
                </a:solidFill>
                <a:latin typeface="Arial"/>
              </a:defRPr>
            </a:pPr>
            <a:r>
              <a:t>Tools integrated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754880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5F5F"/>
                </a:solidFill>
                <a:latin typeface="Arial"/>
              </a:defRPr>
            </a:pPr>
            <a:r>
              <a:t>[ DocumentGraphParser, Spaced Repetition Engine (R=e^(-t/S)*100), SQL Playground, APScheduler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79"/>
            <a:ext cx="11094415" cy="64008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3211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2323"/>
                </a:solidFill>
                <a:latin typeface="Arial"/>
              </a:defRPr>
            </a:pPr>
            <a: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532119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5F5F"/>
                </a:solidFill>
                <a:latin typeface="Arial"/>
              </a:defRPr>
            </a:pPr>
            <a:r>
              <a:t>AMD AI PC ( Ryzen AI / ROCm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6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560320"/>
            <a:ext cx="1280160" cy="128016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735F5F"/>
                </a:solidFill>
                <a:latin typeface="Arial"/>
              </a:defRPr>
            </a:pPr>
            <a:r>
              <a:t>[ Upload PDF &amp; Extract Graph ]</a:t>
            </a:r>
            <a:br/>
            <a:r>
              <a:t>DocumentAgent parses 9 chapters, formulas, code snippets, and prerequisite edges.</a:t>
            </a:r>
          </a:p>
        </p:txBody>
      </p:sp>
      <p:sp>
        <p:nvSpPr>
          <p:cNvPr id="7" name="Oval 6"/>
          <p:cNvSpPr/>
          <p:nvPr/>
        </p:nvSpPr>
        <p:spPr>
          <a:xfrm>
            <a:off x="3749039" y="2560320"/>
            <a:ext cx="1280160" cy="128016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4114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735F5F"/>
                </a:solidFill>
                <a:latin typeface="Arial"/>
              </a:defRPr>
            </a:pPr>
            <a:r>
              <a:t>[ Detect Context &amp; Plan (Think) ]</a:t>
            </a:r>
            <a:br/>
            <a:r>
              <a:t>StrategyAgent selects Exam-Focused strategy; PlannerAgent computes 5-factor priority scores.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560320"/>
            <a:ext cx="1280160" cy="128016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114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735F5F"/>
                </a:solidFill>
                <a:latin typeface="Arial"/>
              </a:defRPr>
            </a:pPr>
            <a:r>
              <a:t>[ Validate Feasibility (Act) ]</a:t>
            </a:r>
            <a:br/>
            <a:r>
              <a:t>ReflectionAgent audits schedule, enforces 12-hour ceiling, and adjusts workload.</a:t>
            </a:r>
          </a:p>
        </p:txBody>
      </p:sp>
      <p:sp>
        <p:nvSpPr>
          <p:cNvPr id="11" name="Oval 10"/>
          <p:cNvSpPr/>
          <p:nvPr/>
        </p:nvSpPr>
        <p:spPr>
          <a:xfrm>
            <a:off x="9052560" y="2560320"/>
            <a:ext cx="1280160" cy="1280160"/>
          </a:xfrm>
          <a:prstGeom prst="ellipse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114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735F5F"/>
                </a:solidFill>
                <a:latin typeface="Arial"/>
              </a:defRPr>
            </a:pPr>
            <a:r>
              <a:t>[ Grounded Tutoring (Observe) ]</a:t>
            </a:r>
            <a:br/>
            <a:r>
              <a:t>TutorAgent evaluates student answer on 6-knob rubric and updates memory retention curve.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35F5F"/>
                </a:solidFill>
                <a:latin typeface="Arial"/>
              </a:defRPr>
            </a:pPr>
            <a:r>
              <a:t>[ Complete Student Journey: PDF Import → Graph Extraction → Strategy Selection → Priority Math → Reflection Audit → Grounded Tutoring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76218" cy="320040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500"/>
              </a:spcBef>
              <a:defRPr sz="1400" i="1">
                <a:solidFill>
                  <a:srgbClr val="735F5F"/>
                </a:solidFill>
                <a:latin typeface="Arial"/>
              </a:defRPr>
            </a:pPr>
            <a:r>
              <a:t>[ PDF Upload &amp; Graph Extraction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35762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35F5F"/>
                </a:solidFill>
                <a:latin typeface="Arial"/>
              </a:defRPr>
            </a:pPr>
            <a:r>
              <a:t>[ Input: JNTU IQTA PDF uploaded.</a:t>
            </a:r>
            <a:br/>
            <a:r>
              <a:t>AI Decision: DocumentAgent extracts 9 chapters.</a:t>
            </a:r>
            <a:br/>
            <a:r>
              <a:t>Output: Knowledge graph cached in SharedMemoryStore.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45920"/>
            <a:ext cx="3576218" cy="320040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500"/>
              </a:spcBef>
              <a:defRPr sz="1400" i="1">
                <a:solidFill>
                  <a:srgbClr val="735F5F"/>
                </a:solidFill>
                <a:latin typeface="Arial"/>
              </a:defRPr>
            </a:pPr>
            <a:r>
              <a:t>[ Proactive Study Roadmap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738" y="4937760"/>
            <a:ext cx="35762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35F5F"/>
                </a:solidFill>
                <a:latin typeface="Arial"/>
              </a:defRPr>
            </a:pPr>
            <a:r>
              <a:t>[ Input: User asks 'what should I do now'.</a:t>
            </a:r>
            <a:br/>
            <a:r>
              <a:t>AI Decision: StrategyAgent + PlannerAgent calculate priority scores.</a:t>
            </a:r>
            <a:br/>
            <a:r>
              <a:t>Output: ReflectionAgent validates 35-min study block.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645920"/>
            <a:ext cx="3576218" cy="320040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500"/>
              </a:spcBef>
              <a:defRPr sz="1400" i="1">
                <a:solidFill>
                  <a:srgbClr val="735F5F"/>
                </a:solidFill>
                <a:latin typeface="Arial"/>
              </a:defRPr>
            </a:pPr>
            <a:r>
              <a:t>[ Grounded Socratic Tutor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937760"/>
            <a:ext cx="35762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35F5F"/>
                </a:solidFill>
                <a:latin typeface="Arial"/>
              </a:defRPr>
            </a:pPr>
            <a:r>
              <a:t>[ Input: Student answers concept query.</a:t>
            </a:r>
            <a:br/>
            <a:r>
              <a:t>AI Decision: TutorAgent evaluates 6-knob rubric matrix.</a:t>
            </a:r>
            <a:br/>
            <a:r>
              <a:t>Output: Displays strengths, gaps, and Mermaid diagram.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23560"/>
            <a:ext cx="11094415" cy="59436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Demo video: Google Drive Link (To Be Added)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2D2323"/>
                </a:solidFill>
                <a:latin typeface="Arial"/>
              </a:defRPr>
            </a:pPr>
            <a:r>
              <a:t>Challenges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Grounded Tutoring: Preventing hallucinations by strictly scoping AI responses to extracted document text ]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Thread-Safe Shared Memory: Managing state safely across multi-threaded FastAPI workers ]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Reflection Guardrails: Ensuring ReflectionAgent dynamically caps daily study allocations at 12 hours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D2323"/>
                </a:solidFill>
                <a:latin typeface="Arial"/>
              </a:defRPr>
            </a:pPr>
            <a:r>
              <a:t>Learnings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Priority Math + LLM Nuance: Combining 5-factor scoring (0.35U + 0.20W + 0.20I + 0.10E + 0.15R) with LLM explanations yields reliable schedules ]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Typed Inter-Agent Contracts: Using Pydantic models for communication prevents schema drift between agents ]</a:t>
            </a:r>
          </a:p>
          <a:p>
            <a:pPr>
              <a:spcAft>
                <a:spcPts val="16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Proactive Intelligence: Proactively generating next study actions creates far better UX than waiting for prompts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Results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2323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53333"/>
                </a:solidFill>
                <a:latin typeface="Georgia"/>
              </a:defRPr>
            </a:pPr>
            <a:r>
              <a:t>[ 100% ]</a:t>
            </a:r>
          </a:p>
          <a:p>
            <a:pPr algn="ctr">
              <a:spcBef>
                <a:spcPts val="600"/>
              </a:spcBef>
              <a:defRPr sz="1100">
                <a:solidFill>
                  <a:srgbClr val="735F5F"/>
                </a:solidFill>
                <a:latin typeface="Arial"/>
              </a:defRPr>
            </a:pPr>
            <a:r>
              <a:t>deterministic priority scoring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8600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53333"/>
                </a:solidFill>
                <a:latin typeface="Georgia"/>
              </a:defRPr>
            </a:pPr>
            <a:r>
              <a:t>[ 19 / 19 ]</a:t>
            </a:r>
          </a:p>
          <a:p>
            <a:pPr algn="ctr">
              <a:spcBef>
                <a:spcPts val="600"/>
              </a:spcBef>
              <a:defRPr sz="1100">
                <a:solidFill>
                  <a:srgbClr val="735F5F"/>
                </a:solidFill>
                <a:latin typeface="Arial"/>
              </a:defRPr>
            </a:pPr>
            <a:r>
              <a:t>backend test suite test cases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53333"/>
                </a:solidFill>
                <a:latin typeface="Georgia"/>
              </a:defRPr>
            </a:pPr>
            <a:r>
              <a:t>[ 8 ]</a:t>
            </a:r>
          </a:p>
          <a:p>
            <a:pPr algn="ctr">
              <a:spcBef>
                <a:spcPts val="600"/>
              </a:spcBef>
              <a:defRPr sz="1100">
                <a:solidFill>
                  <a:srgbClr val="735F5F"/>
                </a:solidFill>
                <a:latin typeface="Arial"/>
              </a:defRPr>
            </a:pPr>
            <a:r>
              <a:t>collaborating AI agents integrated into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735F5F"/>
                </a:solidFill>
                <a:latin typeface="Arial"/>
              </a:defRPr>
            </a:pPr>
            <a:r>
              <a:t>[ Verified System Outcomes: Grounded PDF knowledge graph extraction, reflection-validated study roadmaps, Ebbinghaus retention tracking, and zero runtime errors on AMD AI PC.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45920"/>
            <a:ext cx="18288" cy="4389120"/>
          </a:xfrm>
          <a:prstGeom prst="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2323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Campus Peer Group Synchronization: Multi-student collaborative study roadmaps and shared quiz challenges ]</a:t>
            </a:r>
          </a:p>
          <a:p>
            <a:pPr>
              <a:spcAft>
                <a:spcPts val="20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On-Device NPU Acceleration: Quantized Llama 3.2 / Qwen 2.5 local execution accelerated via AMD Ryzen AI NPU ]</a:t>
            </a:r>
          </a:p>
          <a:p>
            <a:pPr>
              <a:spcAft>
                <a:spcPts val="2000"/>
              </a:spcAft>
              <a:defRPr sz="1400">
                <a:solidFill>
                  <a:srgbClr val="735F5F"/>
                </a:solidFill>
                <a:latin typeface="Arial"/>
              </a:defRPr>
            </a:pPr>
            <a:r>
              <a:t>•  [ Campus LMS Timetable Integration: Automated sync with Canvas, Blackboard, and Moodle assignment calendars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853333"/>
          </a:solidFill>
          <a:ln>
            <a:solidFill>
              <a:srgbClr val="8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323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5F5F"/>
                </a:solidFill>
                <a:latin typeface="Arial"/>
              </a:defRPr>
            </a:pPr>
            <a:r>
              <a:t>Agent Forge Final Demo  ·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4415" cy="822960"/>
          </a:xfrm>
          <a:prstGeom prst="roundRect">
            <a:avLst/>
          </a:prstGeom>
          <a:solidFill>
            <a:srgbClr val="592727"/>
          </a:solidFill>
          <a:ln>
            <a:solidFill>
              <a:srgbClr val="5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Not valid references: Wikipedia, plain Google search results, and AI tools (ChatGPT, Claude, Gemini, etc.) do not count as citable sources. Cite the original, authoritative source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5F5F"/>
                </a:solidFill>
                <a:latin typeface="Arial"/>
              </a:defRPr>
            </a:pPr>
            <a:r>
              <a:t>Use one consistent format throughout. Two common standards: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323"/>
                </a:solidFill>
                <a:latin typeface="Arial"/>
              </a:defRPr>
            </a:pPr>
            <a:r>
              <a:t>IEEE style</a:t>
            </a:r>
          </a:p>
          <a:p>
            <a:pPr>
              <a:spcAft>
                <a:spcPts val="1000"/>
              </a:spcAft>
              <a:defRPr sz="1100">
                <a:solidFill>
                  <a:srgbClr val="735F5F"/>
                </a:solidFill>
                <a:latin typeface="Courier New"/>
              </a:defRPr>
            </a:pPr>
            <a:r>
              <a:t>[1] H. Ebbinghaus, “Memory: A Contribution to Experimental Psychology,” Teachers College, Columbia University, 1885.</a:t>
            </a:r>
          </a:p>
          <a:p>
            <a:pPr>
              <a:spcAft>
                <a:spcPts val="1000"/>
              </a:spcAft>
              <a:defRPr sz="1100">
                <a:solidFill>
                  <a:srgbClr val="735F5F"/>
                </a:solidFill>
                <a:latin typeface="Courier New"/>
              </a:defRPr>
            </a:pPr>
            <a:r>
              <a:t>[2] P. A. Kirschner, “Sweller's Cognitive Load Theory in Action,” John Catt Educational, 2020.</a:t>
            </a:r>
          </a:p>
          <a:p>
            <a:pPr>
              <a:spcAft>
                <a:spcPts val="1000"/>
              </a:spcAft>
              <a:defRPr sz="1100">
                <a:solidFill>
                  <a:srgbClr val="735F5F"/>
                </a:solidFill>
                <a:latin typeface="Courier New"/>
              </a:defRPr>
            </a:pPr>
            <a:r>
              <a:t>[3] AMD Corporation, “Ryzen AI Software &amp; NPU Architecture Guide,” 2024. [Online]. Available: https://ryzenai.docs.amd.com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834640"/>
            <a:ext cx="18288" cy="3383280"/>
          </a:xfrm>
          <a:prstGeom prst="rect">
            <a:avLst/>
          </a:prstGeom>
          <a:solidFill>
            <a:srgbClr val="F2EAE0"/>
          </a:solidFill>
          <a:ln>
            <a:solidFill>
              <a:srgbClr val="F2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323"/>
                </a:solidFill>
                <a:latin typeface="Arial"/>
              </a:defRPr>
            </a:pPr>
            <a:r>
              <a:t>APA style (7th ed.)</a:t>
            </a:r>
          </a:p>
          <a:p>
            <a:pPr>
              <a:spcAft>
                <a:spcPts val="1000"/>
              </a:spcAft>
              <a:defRPr sz="1100">
                <a:solidFill>
                  <a:srgbClr val="735F5F"/>
                </a:solidFill>
                <a:latin typeface="Courier New"/>
              </a:defRPr>
            </a:pPr>
            <a:r>
              <a:t>Ebbinghaus, H. (1885). Memory: A contribution to experimental psychology. Columbia University.</a:t>
            </a:r>
          </a:p>
          <a:p>
            <a:pPr>
              <a:spcAft>
                <a:spcPts val="1000"/>
              </a:spcAft>
              <a:defRPr sz="1100">
                <a:solidFill>
                  <a:srgbClr val="735F5F"/>
                </a:solidFill>
                <a:latin typeface="Courier New"/>
              </a:defRPr>
            </a:pPr>
            <a:r>
              <a:t>FastAPI Software. (2024). FastAPI high performance web framework. https://fastapi.tiangolo.com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